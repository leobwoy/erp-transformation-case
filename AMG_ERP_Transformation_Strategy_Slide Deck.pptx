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1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72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our recommendation provides AMG with the strongest balance between modernization and risk management. By focusing on the foundations first, AMG can achieve ERP transformation without compromising ongoing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9768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1188720"/>
            <a:ext cx="1280160" cy="731520"/>
          </a:xfrm>
          <a:prstGeom prst="line">
            <a:avLst/>
          </a:prstGeom>
          <a:noFill/>
          <a:ln w="19050">
            <a:solidFill>
              <a:srgbClr val="3B46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920240"/>
            <a:ext cx="0" cy="731520"/>
          </a:xfrm>
          <a:prstGeom prst="line">
            <a:avLst/>
          </a:prstGeom>
          <a:noFill/>
          <a:ln w="19050">
            <a:solidFill>
              <a:srgbClr val="3B46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920240"/>
            <a:ext cx="0" cy="1645920"/>
          </a:xfrm>
          <a:prstGeom prst="line">
            <a:avLst/>
          </a:prstGeom>
          <a:noFill/>
          <a:ln w="19050">
            <a:solidFill>
              <a:srgbClr val="3B4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2651760"/>
            <a:ext cx="1371600" cy="914400"/>
          </a:xfrm>
          <a:prstGeom prst="line">
            <a:avLst/>
          </a:prstGeom>
          <a:noFill/>
          <a:ln w="19050">
            <a:solidFill>
              <a:srgbClr val="3B46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3566160"/>
            <a:ext cx="0" cy="914400"/>
          </a:xfrm>
          <a:prstGeom prst="line">
            <a:avLst/>
          </a:prstGeom>
          <a:noFill/>
          <a:ln w="19050">
            <a:solidFill>
              <a:srgbClr val="3B4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1097280"/>
            <a:ext cx="182880" cy="182880"/>
          </a:xfrm>
          <a:prstGeom prst="ellipse">
            <a:avLst/>
          </a:prstGeom>
          <a:solidFill>
            <a:srgbClr val="3B4680"/>
          </a:solidFill>
          <a:ln/>
        </p:spPr>
      </p:sp>
      <p:sp>
        <p:nvSpPr>
          <p:cNvPr id="9" name="Shape 7"/>
          <p:cNvSpPr/>
          <p:nvPr/>
        </p:nvSpPr>
        <p:spPr>
          <a:xfrm>
            <a:off x="10917936" y="177393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2560320"/>
            <a:ext cx="182880" cy="182880"/>
          </a:xfrm>
          <a:prstGeom prst="ellipse">
            <a:avLst/>
          </a:prstGeom>
          <a:solidFill>
            <a:srgbClr val="3B4680"/>
          </a:solidFill>
          <a:ln/>
        </p:spPr>
      </p:sp>
      <p:sp>
        <p:nvSpPr>
          <p:cNvPr id="11" name="Shape 9"/>
          <p:cNvSpPr/>
          <p:nvPr/>
        </p:nvSpPr>
        <p:spPr>
          <a:xfrm>
            <a:off x="10789920" y="3474720"/>
            <a:ext cx="182880" cy="182880"/>
          </a:xfrm>
          <a:prstGeom prst="ellipse">
            <a:avLst/>
          </a:prstGeom>
          <a:solidFill>
            <a:srgbClr val="3B46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0" y="4389120"/>
            <a:ext cx="182880" cy="182880"/>
          </a:xfrm>
          <a:prstGeom prst="ellipse">
            <a:avLst/>
          </a:prstGeom>
          <a:solidFill>
            <a:srgbClr val="3B46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MANUFACTURING GROUP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AMG ERP Transformation Strategy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Margin Loss and Protecting Operations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504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AMG Board of Directors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Consultant, Leonard Yaw Mensah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08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Go-Live: Exactly 12 Months From Now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 Plaguing AMG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Systems Are Hiding Financial Losses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818120" y="384048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5303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046720" y="14173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 machinery orders experienced margin losses last year due to tracking errors.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 across departments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310896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1089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engineering and BOM synchronization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dependence on Excel sheets (manual, complex calculations.)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452628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project costs and profitability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12-Month Implementation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Practical Blueprint (No High-Risk 'Big Bang' Launch)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9364" y="16550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Align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</a:t>
            </a:r>
            <a:r>
              <a:rPr lang="en-US" sz="12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daily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to the standard setup of the new software.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 the 20-year-old database and extract only active, current records.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58284" y="16550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7452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Connect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database for our US and Canadian branches.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automated link between engineering software and the new ERP</a:t>
            </a:r>
            <a:r>
              <a:rPr lang="en-US" sz="1200" dirty="0" smtClean="0">
                <a:solidFill>
                  <a:srgbClr val="E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smtClean="0">
                <a:solidFill>
                  <a:schemeClr val="bg1"/>
                </a:solidFill>
              </a:rPr>
              <a:t>Integrate core aftermarket parts  tracking.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47204" y="16550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87452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651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Train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top workers test the new system using old project files for math accuracy.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then train the rest of the staff.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36124" y="16550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87452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2651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Support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33832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old system over a weekend to move final numbers.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Go-live; keep experts on-site at all 5 factories for 30 days to fix issues instantly.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How We Will Control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Project on Track and the Factory Floors Running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9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Sync Failures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part lists transferring incorrectly from designers to the factory floor and other relevant departments, causing building delays.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Set up an automatic validation gate that blocks broken designs before they reach the shop floor.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819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17647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Sticking to Old Spreadsheets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rejecting the new ERP and secretly continuing to run the company out of personal spreadsheets.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13639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Provide thorough team training, build simple dashboards that look like their old tools, and mandate that untracked jobs will not be paid.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Accounting Friction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486460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errors or delays when calculating US/Canadian dollar conversions and local taxes.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Bring in external cross-border tax experts during Phase 1 to double-check the system's tax rules.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087368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8232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4251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 and Rising Costs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46520" y="486460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 demanding unique software customizations that delay the 12-month launch and blow past the budget.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5623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Enforce a strict 'Fit-to-Standard' rule — we change our operational habits to match the software. A governance committee must reject all custom requests unless legally required.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Day-1 Project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Realistic Boundaries to Ensure a Safe 12-Month Launch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EF3E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1F1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DAY 1 (IN-SCOPE)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FOR LATER (OUT-OF-SCOPE)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194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Accounting: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bookkeeping that automatically calculates USD/CAD conversions and local taxes.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7523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752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Costing Sub-Ledger: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every custom order a unique ID to track live material and labor spending, stopping margin losses instantly.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31012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3310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Engineering Link: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sending BOM lists and ECNs from engineering design tools into the production system.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8679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8679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Buying &amp; Inventory Tracking: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tracking of raw materials (like steel) and automatic alerts when stocks run low.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42569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Shop Tablets: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 touchscreens where workers tap 'Start' and 'Finish' to track labor hours.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6288" y="2194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Machine Tracking (IoT):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factory floor physical welding or cutting tools directly to the database.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37960" y="27523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76288" y="2752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Warehouse Tracking: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3D shelf-mapping or RFID chips to track the location of individual bolts.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31012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3310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Sales Sync: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tracking of minor sales emails and conversations inside the ERP database.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38679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6288" y="38679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Tracking Portals: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custom tracking website where clients can log in to view their order progress.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442569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Processing: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employee taxes, benefits, and printing paychecks inside the ERP.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7790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Trade-Off: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explicitly exclude individual past invoices, timesheets, and closed project lines from the migration. Day 1 will only load active master files (current customers, active suppliers, current part catalogs) and open balances (unpaid invoices, open orders, and physical warehouse stock).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Continuity &amp; Financial Reporting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Executive Insights Without Slowing Down the New ERP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373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ERP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20-Yr History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73736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73736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 Archive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10712" y="2240280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S3 Glacier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306324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3063240"/>
            <a:ext cx="200253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Live ERP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0712" y="3566160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Operations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3774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3952" y="288036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2377440"/>
            <a:ext cx="28346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942832" y="2377440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5-Year Trend &amp; Comparison Reports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80360" y="17373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77840" y="2240280"/>
            <a:ext cx="731520" cy="475488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577840" y="3063240"/>
            <a:ext cx="731520" cy="438912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79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CONTINUITY PLAN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3538728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864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lands precisely on Day 1 of a new fiscal month — never mid-close.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15968" y="4663440"/>
            <a:ext cx="3538728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44568" y="4864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44568" y="53492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month closes entirely inside the old system; final numbers become the new ERP's opening baseline.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83296" y="4663440"/>
            <a:ext cx="3538728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8311896" y="4864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311896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11896" y="5349240"/>
            <a:ext cx="3081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runs weekly practice closes for the first 30 days to catch cross-border currency errors early.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6341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Adopting this Phased Implementation Strategy Would Ensure…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24192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89890" y="194729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718694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Continuity Secured </a:t>
            </a: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factory line stoppages during launch due to dedicated, on-site hypercare engineering presence across all 5 international sites.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1821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94436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Financial Recovery </a:t>
            </a: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unique project IDs stop margin erosion completely while machinery orders are actively being configured and assembled</a:t>
            </a:r>
            <a:r>
              <a:rPr lang="en-US" sz="135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50" dirty="0"/>
              <a:t>Integrating the aftermarket business preserves our highest-margin operation and ensures long-term customer satisfaction.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416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17880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Organizational Discipline </a:t>
            </a: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custom legacy adjustments with clean, industry-standard workflows creates an optimized corporate foundation ready for future growth.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41B4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6692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the 12-month phased implementation roadmap to immediately protect AMG's core business margins, streamline engineering data flows, and secure upcoming fiscal revenue operations.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Expected Business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ERP Transformation Strategy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63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Continuity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0632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063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Integration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0632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063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306324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3B4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30632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3E9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digital foundation that improves decision-making and supports future growth.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1034</Words>
  <Application>Microsoft Office PowerPoint</Application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Owner</cp:lastModifiedBy>
  <cp:revision>4</cp:revision>
  <dcterms:created xsi:type="dcterms:W3CDTF">2026-07-19T17:56:07Z</dcterms:created>
  <dcterms:modified xsi:type="dcterms:W3CDTF">2026-07-19T21:33:03Z</dcterms:modified>
</cp:coreProperties>
</file>